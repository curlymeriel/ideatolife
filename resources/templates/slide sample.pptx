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Noto Sans KR" panose="020B0200000000000000" pitchFamily="50" charset="-127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6345BC9-86C5-4BE4-B4A1-74522D5171F5}">
  <a:tblStyle styleId="{56345BC9-86C5-4BE4-B4A1-74522D5171F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-6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31453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0c1c993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ab0c1c993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af52741a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aaf52741a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52500" y="1667916"/>
            <a:ext cx="7090800" cy="21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66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건설 </a:t>
            </a:r>
            <a:r>
              <a:rPr lang="ko" sz="660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AX</a:t>
            </a:r>
            <a:r>
              <a:rPr lang="ko"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" sz="1800" i="0" u="none" strike="noStrike" cap="non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" sz="66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검토 </a:t>
            </a:r>
            <a:r>
              <a:rPr lang="ko" sz="66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보고서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1424" y="4388200"/>
            <a:ext cx="75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한신공영(주)</a:t>
            </a:r>
            <a:r>
              <a:rPr lang="ko" sz="2400" b="0" i="0" u="none" strike="noStrike" cap="none" dirty="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AI 전환 로드맵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952500" y="4150072"/>
            <a:ext cx="6753225" cy="9525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0159603" y="6324600"/>
            <a:ext cx="98464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1220450" y="6324600"/>
            <a:ext cx="19050" cy="24765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219700" y="1931789"/>
            <a:ext cx="1752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CHAPTER 01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279450" y="2457450"/>
            <a:ext cx="74868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615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건설 산업의 </a:t>
            </a:r>
            <a:r>
              <a:rPr lang="ko" sz="61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변곡점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524500" y="4019550"/>
            <a:ext cx="1143000" cy="7620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676650" y="4591050"/>
            <a:ext cx="5202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7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전통적 노동 집약 구조의 한계와 데이터 기반 혁신의 태동</a:t>
            </a:r>
            <a:endParaRPr sz="1500"/>
          </a:p>
        </p:txBody>
      </p:sp>
      <p:sp>
        <p:nvSpPr>
          <p:cNvPr id="100" name="Google Shape;100;p14"/>
          <p:cNvSpPr txBox="1"/>
          <p:nvPr/>
        </p:nvSpPr>
        <p:spPr>
          <a:xfrm>
            <a:off x="10159603" y="6324600"/>
            <a:ext cx="98464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11220450" y="6324600"/>
            <a:ext cx="19050" cy="24765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782960"/>
            <a:ext cx="3238500" cy="433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6750" y="1782960"/>
            <a:ext cx="3238500" cy="433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0" y="1782960"/>
            <a:ext cx="3238500" cy="433149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285875" y="3335535"/>
            <a:ext cx="27003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생산성 정체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85875" y="4135635"/>
            <a:ext cx="2571900" cy="1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206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Noto Sans KR"/>
              <a:buChar char="●"/>
            </a:pPr>
            <a:r>
              <a:rPr lang="ko" sz="14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전통적 현장 관리 방식의 비효율 지속 </a:t>
            </a:r>
            <a:endParaRPr sz="1450" b="0" i="0" u="none" strike="noStrike" cap="none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marR="0" lvl="0" indent="-3206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Noto Sans KR"/>
              <a:buChar char="●"/>
            </a:pPr>
            <a:r>
              <a:rPr lang="ko" sz="14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타 산업군 대비 낮은 생산성 지표로 인해 수익성 악화 구간에 진입</a:t>
            </a:r>
            <a:endParaRPr sz="1200"/>
          </a:p>
        </p:txBody>
      </p:sp>
      <p:sp>
        <p:nvSpPr>
          <p:cNvPr id="112" name="Google Shape;112;p15"/>
          <p:cNvSpPr txBox="1"/>
          <p:nvPr/>
        </p:nvSpPr>
        <p:spPr>
          <a:xfrm>
            <a:off x="4810125" y="3335535"/>
            <a:ext cx="27003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인력 구조 악화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810125" y="4135635"/>
            <a:ext cx="2571900" cy="1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206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Noto Sans KR"/>
              <a:buChar char="●"/>
            </a:pPr>
            <a:r>
              <a:rPr lang="ko" sz="14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숙련공 고령화 및 신규 유입 단절 심화 </a:t>
            </a:r>
            <a:endParaRPr sz="1450" b="0" i="0" u="none" strike="noStrike" cap="none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marR="0" lvl="0" indent="-3206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Noto Sans KR"/>
              <a:buChar char="●"/>
            </a:pPr>
            <a:r>
              <a:rPr lang="ko" sz="14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전수 공백에 따른 시공 품질 저하 및 관리 리스크 상존</a:t>
            </a:r>
            <a:endParaRPr sz="1200"/>
          </a:p>
        </p:txBody>
      </p:sp>
      <p:sp>
        <p:nvSpPr>
          <p:cNvPr id="114" name="Google Shape;114;p15"/>
          <p:cNvSpPr txBox="1"/>
          <p:nvPr/>
        </p:nvSpPr>
        <p:spPr>
          <a:xfrm>
            <a:off x="8334375" y="3335535"/>
            <a:ext cx="27003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규제 리스크 확대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34375" y="4135635"/>
            <a:ext cx="2571900" cy="1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206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Noto Sans KR"/>
              <a:buChar char="●"/>
            </a:pPr>
            <a:r>
              <a:rPr lang="ko" sz="14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중대재해처벌법 등 강화된 안전 규제 대응 필요 </a:t>
            </a:r>
            <a:endParaRPr sz="1450" b="0" i="0" u="none" strike="noStrike" cap="none">
              <a:solidFill>
                <a:srgbClr val="94A3B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marR="0" lvl="0" indent="-3206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50"/>
              <a:buFont typeface="Noto Sans KR"/>
              <a:buChar char="●"/>
            </a:pPr>
            <a:r>
              <a:rPr lang="ko" sz="145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ESG 공시 의무화 등 탄소 배출 관리 압박이 경영 부담으로 작용</a:t>
            </a:r>
            <a:endParaRPr sz="1200"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0125" y="235446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34375" y="235446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219200" y="762000"/>
            <a:ext cx="1052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국내 건설업의 </a:t>
            </a:r>
            <a:r>
              <a:rPr lang="ko" sz="390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lang="ko" sz="390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대 복합 </a:t>
            </a:r>
            <a:r>
              <a:rPr lang="ko" sz="390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위기</a:t>
            </a:r>
            <a:r>
              <a:rPr lang="ko" sz="39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진단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52500" y="762000"/>
            <a:ext cx="76200" cy="54471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0159603" y="6324600"/>
            <a:ext cx="984646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1220450" y="6324600"/>
            <a:ext cx="19050" cy="24765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41479" y="6524625"/>
            <a:ext cx="6953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i="0" u="none" strike="noStrike" cap="none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KDB 미래전략연구소 보고서 (2024.12) 재구성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5875" y="2240150"/>
            <a:ext cx="579125" cy="5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93" y="-944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219200" y="762000"/>
            <a:ext cx="1052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위기의 반대편, </a:t>
            </a:r>
            <a:r>
              <a:rPr lang="ko" sz="390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건설 AI의 성장과 기회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952500" y="762000"/>
            <a:ext cx="76200" cy="54471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0159603" y="6324600"/>
            <a:ext cx="984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lang="ko" sz="135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0372" y="6505969"/>
            <a:ext cx="8336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Fortune Business Insights (2025.12), </a:t>
            </a:r>
            <a:r>
              <a:rPr lang="ko" sz="1050" i="0" u="none" strike="noStrike" cap="none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"AI in Construction Market", </a:t>
            </a:r>
            <a:r>
              <a:rPr lang="ko" sz="1050">
                <a:solidFill>
                  <a:srgbClr val="F5F5F5"/>
                </a:solidFill>
                <a:latin typeface="Noto Sans KR"/>
                <a:ea typeface="Noto Sans KR"/>
                <a:cs typeface="Noto Sans KR"/>
                <a:sym typeface="Noto Sans KR"/>
              </a:rPr>
              <a:t>"Korea AI Market"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1220450" y="6324600"/>
            <a:ext cx="19050" cy="24765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 b="23459"/>
          <a:stretch/>
        </p:blipFill>
        <p:spPr>
          <a:xfrm>
            <a:off x="1305575" y="1814651"/>
            <a:ext cx="5768875" cy="446118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830611" y="2251935"/>
            <a:ext cx="4650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글로벌 건설 AI 시장 규모 전망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830611" y="2642460"/>
            <a:ext cx="4429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" sz="105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십억 달러, Bn </a:t>
            </a:r>
            <a:r>
              <a:rPr lang="ko" sz="105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USD)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146174">
            <a:off x="3258495" y="3996059"/>
            <a:ext cx="2770386" cy="375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3211886" y="3741677"/>
            <a:ext cx="1378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 CAGR 24.60%</a:t>
            </a:r>
            <a:endParaRPr sz="1300" b="1">
              <a:solidFill>
                <a:srgbClr val="E7A17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7225637" y="3333084"/>
            <a:ext cx="3815477" cy="2942957"/>
            <a:chOff x="952500" y="1502902"/>
            <a:chExt cx="5191125" cy="4014400"/>
          </a:xfrm>
        </p:grpSpPr>
        <p:pic>
          <p:nvPicPr>
            <p:cNvPr id="140" name="Google Shape;140;p16" descr="image.png"/>
            <p:cNvPicPr preferRelativeResize="0"/>
            <p:nvPr/>
          </p:nvPicPr>
          <p:blipFill rotWithShape="1">
            <a:blip r:embed="rId4">
              <a:alphaModFix/>
            </a:blip>
            <a:srcRect b="23459"/>
            <a:stretch/>
          </p:blipFill>
          <p:spPr>
            <a:xfrm>
              <a:off x="952500" y="1502902"/>
              <a:ext cx="5191125" cy="40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6"/>
            <p:cNvSpPr txBox="1"/>
            <p:nvPr/>
          </p:nvSpPr>
          <p:spPr>
            <a:xfrm>
              <a:off x="1333500" y="1936185"/>
              <a:ext cx="4650600" cy="30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33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국내</a:t>
              </a:r>
              <a:r>
                <a:rPr lang="ko" sz="1433" b="1" i="0" u="none" strike="noStrike" cap="non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AI 시장 규모 전망</a:t>
              </a:r>
              <a:endParaRPr sz="1028"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1333500" y="2326710"/>
              <a:ext cx="44292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771" i="0" u="none" strike="noStrike" cap="non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</a:t>
              </a:r>
              <a:r>
                <a:rPr lang="ko" sz="771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십억 달러, Bn </a:t>
              </a:r>
              <a:r>
                <a:rPr lang="ko" sz="771" i="0" u="none" strike="noStrike" cap="none">
                  <a:solidFill>
                    <a:srgbClr val="94A3B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USD)</a:t>
              </a:r>
              <a:endParaRPr sz="1028"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id="143" name="Google Shape;143;p16" descr="image.png"/>
            <p:cNvPicPr preferRelativeResize="0"/>
            <p:nvPr/>
          </p:nvPicPr>
          <p:blipFill rotWithShape="1">
            <a:blip r:embed="rId6">
              <a:alphaModFix/>
            </a:blip>
            <a:srcRect l="2676" t="25908" r="52865" b="19548"/>
            <a:stretch/>
          </p:blipFill>
          <p:spPr>
            <a:xfrm>
              <a:off x="1148349" y="2618755"/>
              <a:ext cx="4742825" cy="2817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2700000">
              <a:off x="2558908" y="3572729"/>
              <a:ext cx="2742786" cy="380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6"/>
            <p:cNvSpPr txBox="1"/>
            <p:nvPr/>
          </p:nvSpPr>
          <p:spPr>
            <a:xfrm>
              <a:off x="2724925" y="3317663"/>
              <a:ext cx="1378500" cy="3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175" tIns="67175" rIns="67175" bIns="6717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955" b="1">
                  <a:solidFill>
                    <a:srgbClr val="E7A17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CAGR 33.40%</a:t>
              </a:r>
              <a:endParaRPr sz="955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6" name="Google Shape;146;p16"/>
          <p:cNvSpPr txBox="1"/>
          <p:nvPr/>
        </p:nvSpPr>
        <p:spPr>
          <a:xfrm>
            <a:off x="9757075" y="4155950"/>
            <a:ext cx="615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rgbClr val="E7A170"/>
                </a:solidFill>
                <a:highlight>
                  <a:srgbClr val="1E2125"/>
                </a:highlight>
                <a:latin typeface="Noto Sans KR"/>
                <a:ea typeface="Noto Sans KR"/>
                <a:cs typeface="Noto Sans KR"/>
                <a:sym typeface="Noto Sans KR"/>
              </a:rPr>
              <a:t>53.87</a:t>
            </a:r>
            <a:endParaRPr sz="1100" b="1">
              <a:solidFill>
                <a:srgbClr val="E7A170"/>
              </a:solidFill>
              <a:highlight>
                <a:srgbClr val="1E2125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219200" y="762000"/>
            <a:ext cx="10521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건설 </a:t>
            </a:r>
            <a:r>
              <a:rPr lang="ko" sz="390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AX </a:t>
            </a:r>
            <a:r>
              <a:rPr lang="ko" sz="390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혁신</a:t>
            </a:r>
            <a:r>
              <a:rPr lang="ko" sz="39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의 필연성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52500" y="762000"/>
            <a:ext cx="76200" cy="54480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10159603" y="6324600"/>
            <a:ext cx="984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lang="ko" sz="135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11220450" y="6324600"/>
            <a:ext cx="19200" cy="24780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17"/>
          <p:cNvGraphicFramePr/>
          <p:nvPr/>
        </p:nvGraphicFramePr>
        <p:xfrm>
          <a:off x="933450" y="1847850"/>
          <a:ext cx="10210750" cy="3761270"/>
        </p:xfrm>
        <a:graphic>
          <a:graphicData uri="http://schemas.openxmlformats.org/drawingml/2006/table">
            <a:tbl>
              <a:tblPr firstRow="1" bandRow="1">
                <a:noFill/>
                <a:tableStyleId>{56345BC9-86C5-4BE4-B4A1-74522D5171F5}</a:tableStyleId>
              </a:tblPr>
              <a:tblGrid>
                <a:gridCol w="1788525"/>
                <a:gridCol w="2224275"/>
                <a:gridCol w="2490425"/>
                <a:gridCol w="3707525"/>
              </a:tblGrid>
              <a:tr h="54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전통 방식</a:t>
                      </a:r>
                      <a:endParaRPr sz="1000" b="0">
                        <a:solidFill>
                          <a:srgbClr val="94A3B8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건설 </a:t>
                      </a:r>
                      <a:r>
                        <a:rPr lang="ko" sz="1650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</a:t>
                      </a:r>
                      <a:r>
                        <a:rPr lang="ko" sz="1650" b="1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도입</a:t>
                      </a:r>
                      <a:endParaRPr sz="1000" b="0">
                        <a:solidFill>
                          <a:srgbClr val="94A3B8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기대 효과 및 성과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</a:tr>
              <a:tr h="77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공사비 절감</a:t>
                      </a:r>
                      <a:endParaRPr/>
                    </a:p>
                  </a:txBody>
                  <a:tcPr marL="4000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기준점 (100%)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70% ~ 95% 수준 절감</a:t>
                      </a:r>
                      <a:endParaRPr>
                        <a:solidFill>
                          <a:srgbClr val="E7A17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설계 최적화 및 자재 낭비 방지 추진</a:t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</a:tr>
              <a:tr h="77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공사 기간</a:t>
                      </a:r>
                      <a:endParaRPr/>
                    </a:p>
                  </a:txBody>
                  <a:tcPr marL="4000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표준 공기 준수 어려움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5% ~ 12% 단축 가능</a:t>
                      </a:r>
                      <a:endParaRPr>
                        <a:solidFill>
                          <a:srgbClr val="E7A17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자동 공정 관리 및 리스크 선제 대응</a:t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</a:tr>
              <a:tr h="77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안전 사고</a:t>
                      </a:r>
                      <a:endParaRPr/>
                    </a:p>
                  </a:txBody>
                  <a:tcPr marL="4000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인력 중심 모니터링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위험 감지 시 3초 내 경보</a:t>
                      </a:r>
                      <a:endParaRPr>
                        <a:solidFill>
                          <a:srgbClr val="E7A17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중대재해 위험 </a:t>
                      </a:r>
                      <a:r>
                        <a:rPr lang="ko" sz="1650" b="0" i="0" u="none" strike="noStrike" cap="none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행동 42% 감소 </a:t>
                      </a: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실현</a:t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</a:tr>
              <a:tr h="77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1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관리 정확도</a:t>
                      </a:r>
                      <a:endParaRPr/>
                    </a:p>
                  </a:txBody>
                  <a:tcPr marL="4000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2141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29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약 70% (경험 기반)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E7A17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95% 이상 (데이터 기반)</a:t>
                      </a:r>
                      <a:endParaRPr>
                        <a:solidFill>
                          <a:srgbClr val="E7A170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기반 정밀 의사결정 체계 확보</a:t>
                      </a:r>
                      <a:b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ko" sz="1650" b="0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125"/>
                    </a:solidFill>
                  </a:tcPr>
                </a:tc>
              </a:tr>
            </a:tbl>
          </a:graphicData>
        </a:graphic>
      </p:graphicFrame>
      <p:cxnSp>
        <p:nvCxnSpPr>
          <p:cNvPr id="157" name="Google Shape;157;p17"/>
          <p:cNvCxnSpPr/>
          <p:nvPr/>
        </p:nvCxnSpPr>
        <p:spPr>
          <a:xfrm>
            <a:off x="921825" y="2388675"/>
            <a:ext cx="10241400" cy="2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450" y="26946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6450" y="34720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62025" y="6524625"/>
            <a:ext cx="47910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: 국내 건설사 AI 실증 데이터 및 KDI 경제정보센터 분석 자료</a:t>
            </a:r>
            <a:endParaRPr/>
          </a:p>
        </p:txBody>
      </p:sp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6450" y="43064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6450" y="5093325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782960"/>
            <a:ext cx="327020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60825" y="1782960"/>
            <a:ext cx="327020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9150" y="1782960"/>
            <a:ext cx="32702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285875" y="2935485"/>
            <a:ext cx="2733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지능형 생산성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4794200" y="2935485"/>
            <a:ext cx="2733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선제적 안전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302525" y="2935485"/>
            <a:ext cx="27336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95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지속 가능 품질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85875" y="230683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524000" y="3430785"/>
            <a:ext cx="2365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반복 업무 자동화 기반 공기/원가 혁신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524000" y="4116585"/>
            <a:ext cx="2365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학습 모델 통한 설계 및 공정 최적화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94200" y="230683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032325" y="3430785"/>
            <a:ext cx="2365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인간 인지 한계 극복 실시간 위험 감지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032325" y="4116585"/>
            <a:ext cx="2365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CCTV 영상 분석 및 웨어러블 사고 예방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02525" y="230683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8540650" y="3430785"/>
            <a:ext cx="2365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콘크리트 강도 예측 등 정밀 시공 제어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540650" y="4116585"/>
            <a:ext cx="2365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폐기물 최소화 및 자재 효율로 ESG 실현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285875" y="3449835"/>
            <a:ext cx="1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285875" y="4135635"/>
            <a:ext cx="1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794200" y="3449835"/>
            <a:ext cx="1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794200" y="4135635"/>
            <a:ext cx="1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8302525" y="3449835"/>
            <a:ext cx="1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302525" y="4135635"/>
            <a:ext cx="133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●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219200" y="762000"/>
            <a:ext cx="6861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9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건설 AI의 </a:t>
            </a:r>
            <a:r>
              <a:rPr lang="ko" sz="390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3대 핵심 가치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952500" y="762000"/>
            <a:ext cx="76200" cy="54480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52500" y="6524625"/>
            <a:ext cx="7127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Source: KDB 미래전략연구소 산업기술리서치센터 (2024.12)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159603" y="6324600"/>
            <a:ext cx="984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 b="1" i="0" u="none" strike="noStrike" cap="none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r>
              <a:rPr lang="ko" sz="1350" b="1">
                <a:solidFill>
                  <a:srgbClr val="E7A170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11220450" y="6324600"/>
            <a:ext cx="19200" cy="247800"/>
          </a:xfrm>
          <a:prstGeom prst="rect">
            <a:avLst/>
          </a:prstGeom>
          <a:solidFill>
            <a:srgbClr val="E7A1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사용자 지정</PresentationFormat>
  <Paragraphs>70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굴림</vt:lpstr>
      <vt:lpstr>Arial</vt:lpstr>
      <vt:lpstr>Noto Sans KR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Meriel Kang</cp:lastModifiedBy>
  <cp:revision>1</cp:revision>
  <dcterms:modified xsi:type="dcterms:W3CDTF">2026-01-31T04:41:20Z</dcterms:modified>
</cp:coreProperties>
</file>